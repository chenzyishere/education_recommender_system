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183F6E"/>
                </a:solidFill>
                <a:latin typeface="Microsoft YaHei"/>
              </a:rPr>
              <a:t>基于知识图谱与SAKT的学习资源推荐研究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solidFill>
                  <a:srgbClr val="464646"/>
                </a:solidFill>
                <a:latin typeface="Microsoft YaHei"/>
              </a:rPr>
              <a:t>本科毕业答辩</a:t>
            </a:r>
          </a:p>
          <a:p>
            <a:r>
              <a:rPr sz="2000" b="0">
                <a:solidFill>
                  <a:srgbClr val="464646"/>
                </a:solidFill>
                <a:latin typeface="Microsoft YaHei"/>
              </a:rPr>
              <a:t>计算机科学与技术专业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83F6E"/>
                </a:solidFill>
                <a:latin typeface="Microsoft YaHei"/>
              </a:rPr>
              <a:t>研究背景与问题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1E1E1E"/>
                </a:solidFill>
                <a:latin typeface="Microsoft YaHei"/>
              </a:rPr>
              <a:t>传统知识追踪模型预测准确，但常忽略教学路径逻辑。</a:t>
            </a:r>
          </a:p>
          <a:p>
            <a:pPr/>
            <a:r>
              <a:rPr sz="2000" b="0">
                <a:solidFill>
                  <a:srgbClr val="1E1E1E"/>
                </a:solidFill>
                <a:latin typeface="Microsoft YaHei"/>
              </a:rPr>
              <a:t>教育推荐需要同时满足：个性化、可达性、可解释性。</a:t>
            </a:r>
          </a:p>
          <a:p>
            <a:pPr/>
            <a:r>
              <a:rPr sz="2000" b="0">
                <a:solidFill>
                  <a:srgbClr val="1E1E1E"/>
                </a:solidFill>
                <a:latin typeface="Microsoft YaHei"/>
              </a:rPr>
              <a:t>核心问题：如何在保持预测性能的同时提升先修逻辑一致性？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83F6E"/>
                </a:solidFill>
                <a:latin typeface="Microsoft YaHei"/>
              </a:rPr>
              <a:t>研究目标与贡献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1E1E1E"/>
                </a:solidFill>
                <a:latin typeface="Microsoft YaHei"/>
              </a:rPr>
              <a:t>提出 KG-SAKT 框架：认知预测 + 知识图谱逻辑约束。</a:t>
            </a:r>
          </a:p>
          <a:p>
            <a:pPr/>
            <a:r>
              <a:rPr sz="2000" b="0">
                <a:solidFill>
                  <a:srgbClr val="1E1E1E"/>
                </a:solidFill>
                <a:latin typeface="Microsoft YaHei"/>
              </a:rPr>
              <a:t>构建“预测指标 + 逻辑指标”双维评估体系。</a:t>
            </a:r>
          </a:p>
          <a:p>
            <a:pPr/>
            <a:r>
              <a:rPr sz="2000" b="0">
                <a:solidFill>
                  <a:srgbClr val="1E1E1E"/>
                </a:solidFill>
                <a:latin typeface="Microsoft YaHei"/>
              </a:rPr>
              <a:t>实现推荐阶段策略：掌握学习门控、ZPD匹配、认知负荷惩罚。</a:t>
            </a:r>
          </a:p>
          <a:p>
            <a:pPr/>
            <a:r>
              <a:rPr sz="2000" b="0">
                <a:solidFill>
                  <a:srgbClr val="1E1E1E"/>
                </a:solidFill>
                <a:latin typeface="Microsoft YaHei"/>
              </a:rPr>
              <a:t>输出可解释推荐证据链，支持教学应用。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83F6E"/>
                </a:solidFill>
                <a:latin typeface="Microsoft YaHei"/>
              </a:rPr>
              <a:t>模型整体逻辑框图</a:t>
            </a:r>
          </a:p>
        </p:txBody>
      </p:sp>
      <p:pic>
        <p:nvPicPr>
          <p:cNvPr id="3" name="Picture 2" descr="kg_sakt_logic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72800" cy="154910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05050"/>
                </a:solidFill>
                <a:latin typeface="Microsoft YaHei"/>
              </a:rPr>
              <a:t>图：KG-SAKT 推荐逻辑流程。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83F6E"/>
                </a:solidFill>
                <a:latin typeface="Microsoft YaHei"/>
              </a:rPr>
              <a:t>数据预处理与图谱构建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1E1E1E"/>
                </a:solidFill>
                <a:latin typeface="Microsoft YaHei"/>
              </a:rPr>
              <a:t>数据集：ASSISTments 2009-2010（Skill Builder）。</a:t>
            </a:r>
          </a:p>
          <a:p>
            <a:pPr/>
            <a:r>
              <a:rPr sz="2000" b="0">
                <a:solidFill>
                  <a:srgbClr val="1E1E1E"/>
                </a:solidFill>
                <a:latin typeface="Microsoft YaHei"/>
              </a:rPr>
              <a:t>清洗流程：字段对齐、噪声剔除、序列重构、ID重映射。</a:t>
            </a:r>
          </a:p>
          <a:p>
            <a:pPr/>
            <a:r>
              <a:rPr sz="2000" b="0">
                <a:solidFill>
                  <a:srgbClr val="1E1E1E"/>
                </a:solidFill>
                <a:latin typeface="Microsoft YaHei"/>
              </a:rPr>
              <a:t>图谱构建：三元组 (KP_source, requires, KP_target) + 语义图字典。</a:t>
            </a:r>
          </a:p>
          <a:p>
            <a:pPr/>
            <a:r>
              <a:rPr sz="2000" b="0">
                <a:solidFill>
                  <a:srgbClr val="1E1E1E"/>
                </a:solidFill>
                <a:latin typeface="Microsoft YaHei"/>
              </a:rPr>
              <a:t>计算层：生成 kg_adj_list.json 支撑训练与评估索引。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83F6E"/>
                </a:solidFill>
                <a:latin typeface="Microsoft YaHei"/>
              </a:rPr>
              <a:t>知识图谱邻接矩阵可视化</a:t>
            </a:r>
          </a:p>
        </p:txBody>
      </p:sp>
      <p:pic>
        <p:nvPicPr>
          <p:cNvPr id="3" name="Picture 2" descr="kg_adjacenc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54480"/>
            <a:ext cx="9875520" cy="8641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05050"/>
                </a:solidFill>
                <a:latin typeface="Microsoft YaHei"/>
              </a:rPr>
              <a:t>图：邻接关系矩阵（用于结构检查与展示）。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83F6E"/>
                </a:solidFill>
                <a:latin typeface="Microsoft YaHei"/>
              </a:rPr>
              <a:t>模型训练与策略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1E1E1E"/>
                </a:solidFill>
                <a:latin typeface="Microsoft YaHei"/>
              </a:rPr>
              <a:t>对比模型：Pure-CF、DKT、SAKT、KG-SAKT。</a:t>
            </a:r>
          </a:p>
          <a:p>
            <a:pPr/>
            <a:r>
              <a:rPr sz="2000" b="0">
                <a:solidFill>
                  <a:srgbClr val="1E1E1E"/>
                </a:solidFill>
                <a:latin typeface="Microsoft YaHei"/>
              </a:rPr>
              <a:t>训练损失：L = L_pred + λ_t * L_logic（LogicLambda 退火调度）。</a:t>
            </a:r>
          </a:p>
          <a:p>
            <a:pPr/>
            <a:r>
              <a:rPr sz="2000" b="0">
                <a:solidFill>
                  <a:srgbClr val="1E1E1E"/>
                </a:solidFill>
                <a:latin typeface="Microsoft YaHei"/>
              </a:rPr>
              <a:t>早停策略：基于验证集最优 epoch 选择模型。</a:t>
            </a:r>
          </a:p>
          <a:p>
            <a:pPr/>
            <a:r>
              <a:rPr sz="2000" b="0">
                <a:solidFill>
                  <a:srgbClr val="1E1E1E"/>
                </a:solidFill>
                <a:latin typeface="Microsoft YaHei"/>
              </a:rPr>
              <a:t>推荐阶段：先门控过滤，再融合 ZPD/Readiness/Novelty/Load 排序。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83F6E"/>
                </a:solidFill>
                <a:latin typeface="Microsoft YaHei"/>
              </a:rPr>
              <a:t>实验结果汇总（核心指标）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</a:tblGrid>
              <a:tr h="8412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>
                    <a:solidFill>
                      <a:srgbClr val="183F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BestEp</a:t>
                      </a:r>
                    </a:p>
                  </a:txBody>
                  <a:tcPr>
                    <a:solidFill>
                      <a:srgbClr val="183F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AUC↑</a:t>
                      </a:r>
                    </a:p>
                  </a:txBody>
                  <a:tcPr>
                    <a:solidFill>
                      <a:srgbClr val="183F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RMSE↓</a:t>
                      </a:r>
                    </a:p>
                  </a:txBody>
                  <a:tcPr>
                    <a:solidFill>
                      <a:srgbClr val="183F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Path↑</a:t>
                      </a:r>
                    </a:p>
                  </a:txBody>
                  <a:tcPr>
                    <a:solidFill>
                      <a:srgbClr val="183F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PVR↓</a:t>
                      </a:r>
                    </a:p>
                  </a:txBody>
                  <a:tcPr>
                    <a:solidFill>
                      <a:srgbClr val="183F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APC↑</a:t>
                      </a:r>
                    </a:p>
                  </a:txBody>
                  <a:tcPr>
                    <a:solidFill>
                      <a:srgbClr val="183F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VS↓</a:t>
                      </a:r>
                    </a:p>
                  </a:txBody>
                  <a:tcPr>
                    <a:solidFill>
                      <a:srgbClr val="183F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RDC↑</a:t>
                      </a:r>
                    </a:p>
                  </a:txBody>
                  <a:tcPr>
                    <a:solidFill>
                      <a:srgbClr val="183F6E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Pure-CF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0.5039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0.6520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N/A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DKT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0.8377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0.3933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68.0297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35.4883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64.5117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0.4229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60.2476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SAKT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0.7981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0.4186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57.7447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43.1100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56.8900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0.4600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55.2465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KG-SAKT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0.8200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0.4070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74.9690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27.7473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72.2527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0.3720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Microsoft YaHei"/>
                        </a:rPr>
                        <a:t>49.3132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83F6E"/>
                </a:solidFill>
                <a:latin typeface="Microsoft YaHei"/>
              </a:rPr>
              <a:t>逻辑指标对比（柱状图）</a:t>
            </a:r>
          </a:p>
        </p:txBody>
      </p:sp>
      <p:pic>
        <p:nvPicPr>
          <p:cNvPr id="3" name="Picture 2" descr="logic_metric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1042416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05050"/>
                </a:solidFill>
                <a:latin typeface="Microsoft YaHei"/>
              </a:rPr>
              <a:t>图：Path / PVR / APC / VS / RDC 对比。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83F6E"/>
                </a:solidFill>
                <a:latin typeface="Microsoft YaHei"/>
              </a:rPr>
              <a:t>逻辑指标对比（雷达图）</a:t>
            </a:r>
          </a:p>
        </p:txBody>
      </p:sp>
      <p:pic>
        <p:nvPicPr>
          <p:cNvPr id="3" name="Picture 2" descr="logic_metric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10424160" cy="10424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05050"/>
                </a:solidFill>
                <a:latin typeface="Microsoft YaHei"/>
              </a:rPr>
              <a:t>图：多指标综合对比（已做方向归一）。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83F6E"/>
                </a:solidFill>
                <a:latin typeface="Microsoft YaHei"/>
              </a:rPr>
              <a:t>资源推荐案例分析（导出结果）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E1E1E"/>
                </a:solidFill>
                <a:latin typeface="Microsoft YaHei"/>
              </a:rPr>
              <a:t>学生A（基础薄弱）：水平中级，近5次正确率60%；Top1推荐“正指数幂化简”（分数0.9067，掌握概率0.5992，认知负荷0.4590）。</a:t>
            </a:r>
          </a:p>
          <a:p>
            <a:pPr/>
            <a:r>
              <a:rPr sz="1800" b="0">
                <a:solidFill>
                  <a:srgbClr val="1E1E1E"/>
                </a:solidFill>
                <a:latin typeface="Microsoft YaHei"/>
              </a:rPr>
              <a:t>学生D（高正确率慢节奏）：水平高级，近5次正确率80%；Top1推荐“根据方程求斜率”（分数0.9012，掌握概率0.5919，认知负荷0.4200）。</a:t>
            </a:r>
          </a:p>
          <a:p>
            <a:pPr/>
            <a:r>
              <a:rPr sz="1800" b="0">
                <a:solidFill>
                  <a:srgbClr val="1E1E1E"/>
                </a:solidFill>
                <a:latin typeface="Microsoft YaHei"/>
              </a:rPr>
              <a:t>学生G（代数偏科）：水平初级，近5次正确率20%；Top1推荐“勾股定理”（分数0.8715，掌握概率0.6058，认知负荷0.5893）。</a:t>
            </a:r>
          </a:p>
          <a:p>
            <a:pPr/>
            <a:r>
              <a:rPr sz="1800" b="0">
                <a:solidFill>
                  <a:srgbClr val="1E1E1E"/>
                </a:solidFill>
                <a:latin typeface="Microsoft YaHei"/>
              </a:rPr>
              <a:t>结论：推荐结果体现“先修达标门控 + ZPD区间匹配 + 认知负荷惩罚”的协同作用。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83F6E"/>
                </a:solidFill>
                <a:latin typeface="Microsoft YaHei"/>
              </a:rPr>
              <a:t>结论与展望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1E1E1E"/>
                </a:solidFill>
                <a:latin typeface="Microsoft YaHei"/>
              </a:rPr>
              <a:t>KG-SAKT 在保持较强预测能力的同时，显著提升路径逻辑一致性。</a:t>
            </a:r>
          </a:p>
          <a:p>
            <a:pPr/>
            <a:r>
              <a:rPr sz="2000" b="0">
                <a:solidFill>
                  <a:srgbClr val="1E1E1E"/>
                </a:solidFill>
                <a:latin typeface="Microsoft YaHei"/>
              </a:rPr>
              <a:t>推荐结果可输出“前置证据 + 认知负荷”解释链，提升可采纳性。</a:t>
            </a:r>
          </a:p>
          <a:p>
            <a:pPr/>
            <a:r>
              <a:rPr sz="2000" b="0">
                <a:solidFill>
                  <a:srgbClr val="1E1E1E"/>
                </a:solidFill>
                <a:latin typeface="Microsoft YaHei"/>
              </a:rPr>
              <a:t>局限：图谱仍偏轻量规则构建，部分技能语义待完善。</a:t>
            </a:r>
          </a:p>
          <a:p>
            <a:pPr/>
            <a:r>
              <a:rPr sz="2000" b="0">
                <a:solidFill>
                  <a:srgbClr val="1E1E1E"/>
                </a:solidFill>
                <a:latin typeface="Microsoft YaHei"/>
              </a:rPr>
              <a:t>未来：引入专家标注图谱与多模态学习特征，推进在线教学验证。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183F6E"/>
                </a:solidFill>
                <a:latin typeface="Microsoft YaHei"/>
              </a:rPr>
              <a:t>感谢各位老师聆听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solidFill>
                  <a:srgbClr val="464646"/>
                </a:solidFill>
                <a:latin typeface="Microsoft YaHei"/>
              </a:rPr>
              <a:t>欢迎批评指正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